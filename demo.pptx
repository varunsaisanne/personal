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7" r:id="rId14"/>
    <p:sldId id="270" r:id="rId15"/>
    <p:sldId id="271" r:id="rId16"/>
    <p:sldId id="278" r:id="rId17"/>
    <p:sldId id="274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A8CB3-EF26-493B-9271-C0CCEB851A7D}" type="datetimeFigureOut">
              <a:rPr lang="en-US" smtClean="0"/>
              <a:pPr/>
              <a:t>9/6/2026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69447-88F9-4E77-A948-6E2B8CAF5C46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2910" y="1571612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CASE PRESENTATION ON CHRONIC CALCULUS  CHOLECYSTITIS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14810" y="4429132"/>
            <a:ext cx="6400800" cy="1752600"/>
          </a:xfrm>
        </p:spPr>
        <p:txBody>
          <a:bodyPr/>
          <a:lstStyle/>
          <a:p>
            <a:r>
              <a:rPr lang="en-US" dirty="0"/>
              <a:t>PRESENTED BY</a:t>
            </a:r>
          </a:p>
          <a:p>
            <a:r>
              <a:rPr lang="en-US" dirty="0"/>
              <a:t>AASHRITHA.S</a:t>
            </a:r>
          </a:p>
          <a:p>
            <a:r>
              <a:rPr lang="en-US" dirty="0"/>
              <a:t>23Z11T0001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Chronic calculus </a:t>
            </a:r>
            <a:r>
              <a:rPr lang="en-US" dirty="0" err="1"/>
              <a:t>cholecystitis</a:t>
            </a:r>
            <a:r>
              <a:rPr lang="en-US" dirty="0"/>
              <a:t> is a chronic inflammation of the gall bladder caused by the presence of gall stones usually resulting from repeated episodes of gall bladder irritation and inflammation</a:t>
            </a:r>
          </a:p>
          <a:p>
            <a:r>
              <a:rPr lang="en-US" dirty="0"/>
              <a:t>It is one of the most common chronic disorders of the gall bladder</a:t>
            </a:r>
          </a:p>
          <a:p>
            <a:r>
              <a:rPr lang="en-US" dirty="0"/>
              <a:t>Gall stones repeatedly irritates the gall bladder and may cause intermittent obstruction of cystic duct. </a:t>
            </a:r>
          </a:p>
          <a:p>
            <a:r>
              <a:rPr lang="en-US" dirty="0"/>
              <a:t>Persistent inflammation leads to thickening, fibrosis and reduced contractility of gall bladder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ETIOLOGY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/>
            <a:r>
              <a:rPr lang="en-US" dirty="0"/>
              <a:t>Gall stones  [</a:t>
            </a:r>
            <a:r>
              <a:rPr lang="en-US" dirty="0" err="1"/>
              <a:t>cholethiasis</a:t>
            </a:r>
            <a:r>
              <a:rPr lang="en-US" dirty="0"/>
              <a:t>] – the main cause</a:t>
            </a:r>
          </a:p>
          <a:p>
            <a:pPr marL="514350" indent="-514350"/>
            <a:r>
              <a:rPr lang="en-US" dirty="0"/>
              <a:t>Repeated cystic duct obstruction by gall stones </a:t>
            </a:r>
          </a:p>
          <a:p>
            <a:pPr marL="514350" indent="-514350"/>
            <a:r>
              <a:rPr lang="en-US" dirty="0"/>
              <a:t>Repeated episodes of acute </a:t>
            </a:r>
            <a:r>
              <a:rPr lang="en-US" dirty="0" err="1"/>
              <a:t>cholecystitis</a:t>
            </a:r>
            <a:r>
              <a:rPr lang="en-US" dirty="0"/>
              <a:t> leads to chronic inflammation </a:t>
            </a:r>
          </a:p>
          <a:p>
            <a:pPr marL="514350" indent="-514350"/>
            <a:r>
              <a:rPr lang="en-US" dirty="0"/>
              <a:t>Bile stasis and impaired gallbladder emptying </a:t>
            </a:r>
          </a:p>
          <a:p>
            <a:pPr marL="514350" indent="-514350"/>
            <a:r>
              <a:rPr lang="en-US" dirty="0"/>
              <a:t>Bacterial infection[ </a:t>
            </a:r>
            <a:r>
              <a:rPr lang="en-US" dirty="0" err="1"/>
              <a:t>E.coli</a:t>
            </a:r>
            <a:r>
              <a:rPr lang="en-US" dirty="0"/>
              <a:t>, </a:t>
            </a:r>
            <a:r>
              <a:rPr lang="en-US" dirty="0" err="1"/>
              <a:t>klebsiella</a:t>
            </a:r>
            <a:r>
              <a:rPr lang="en-US" dirty="0"/>
              <a:t>, </a:t>
            </a:r>
            <a:r>
              <a:rPr lang="en-US" dirty="0" err="1"/>
              <a:t>enterobacter</a:t>
            </a:r>
            <a:r>
              <a:rPr lang="en-US" dirty="0"/>
              <a:t> etc.] may contribute in some cases</a:t>
            </a:r>
          </a:p>
          <a:p>
            <a:pPr marL="514350" indent="-514350">
              <a:buNone/>
            </a:pPr>
            <a:r>
              <a:rPr lang="en-US" b="1" dirty="0"/>
              <a:t>      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FACTORS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Female sex </a:t>
            </a:r>
          </a:p>
          <a:p>
            <a:r>
              <a:rPr lang="en-US" dirty="0"/>
              <a:t>Increasing age</a:t>
            </a:r>
          </a:p>
          <a:p>
            <a:r>
              <a:rPr lang="en-US" dirty="0"/>
              <a:t>Obesity </a:t>
            </a:r>
          </a:p>
          <a:p>
            <a:r>
              <a:rPr lang="en-US" dirty="0"/>
              <a:t>High fat diet</a:t>
            </a:r>
          </a:p>
          <a:p>
            <a:r>
              <a:rPr lang="en-US" dirty="0"/>
              <a:t>Rapid weight loss</a:t>
            </a:r>
          </a:p>
          <a:p>
            <a:r>
              <a:rPr lang="en-US" dirty="0"/>
              <a:t>Diabetes mellitus</a:t>
            </a:r>
          </a:p>
          <a:p>
            <a:r>
              <a:rPr lang="en-US" dirty="0"/>
              <a:t>Family history of gall stones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SIGNS AND SYMPTOMS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Right  upper abdominal pain</a:t>
            </a:r>
          </a:p>
          <a:p>
            <a:r>
              <a:rPr lang="en-US" dirty="0"/>
              <a:t>Pain radiates to right shoulder or back </a:t>
            </a:r>
          </a:p>
          <a:p>
            <a:r>
              <a:rPr lang="en-US" dirty="0"/>
              <a:t>Dyspepsia </a:t>
            </a:r>
          </a:p>
          <a:p>
            <a:r>
              <a:rPr lang="en-US" dirty="0"/>
              <a:t>Bloating, indigestion</a:t>
            </a:r>
          </a:p>
          <a:p>
            <a:r>
              <a:rPr lang="en-US" dirty="0"/>
              <a:t>Occasionally fever due to acute </a:t>
            </a:r>
            <a:r>
              <a:rPr lang="en-US" dirty="0" err="1"/>
              <a:t>excerbation</a:t>
            </a:r>
            <a:endParaRPr lang="en-US" dirty="0"/>
          </a:p>
          <a:p>
            <a:r>
              <a:rPr lang="en-US" dirty="0"/>
              <a:t>Positive </a:t>
            </a:r>
            <a:r>
              <a:rPr lang="en-US" dirty="0" err="1"/>
              <a:t>murphys</a:t>
            </a:r>
            <a:r>
              <a:rPr lang="en-US" dirty="0"/>
              <a:t> sign</a:t>
            </a:r>
          </a:p>
          <a:p>
            <a:r>
              <a:rPr lang="en-US" dirty="0"/>
              <a:t>Pain often occurs after fatty meals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DIAGNOSIS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History and physical examination</a:t>
            </a:r>
          </a:p>
          <a:p>
            <a:r>
              <a:rPr lang="en-US" dirty="0" err="1"/>
              <a:t>Ultrasonography</a:t>
            </a:r>
            <a:r>
              <a:rPr lang="en-US" dirty="0"/>
              <a:t> of abdomen and pelvis</a:t>
            </a:r>
          </a:p>
          <a:p>
            <a:r>
              <a:rPr lang="en-US" dirty="0"/>
              <a:t>Complete blood picture</a:t>
            </a:r>
          </a:p>
          <a:p>
            <a:r>
              <a:rPr lang="en-US" dirty="0"/>
              <a:t>HIDA scan [ </a:t>
            </a:r>
            <a:r>
              <a:rPr lang="en-US" dirty="0" err="1"/>
              <a:t>cholecintigraphy</a:t>
            </a:r>
            <a:r>
              <a:rPr lang="en-US" dirty="0"/>
              <a:t>]</a:t>
            </a:r>
          </a:p>
          <a:p>
            <a:r>
              <a:rPr lang="en-US" dirty="0"/>
              <a:t>CT, MRI scan</a:t>
            </a:r>
          </a:p>
          <a:p>
            <a:r>
              <a:rPr lang="en-US" dirty="0"/>
              <a:t>Liver and renal function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SUBJECTIVE DATA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Patient name: xxx</a:t>
            </a:r>
          </a:p>
          <a:p>
            <a:r>
              <a:rPr lang="en-US" dirty="0"/>
              <a:t>Age: 76years</a:t>
            </a:r>
          </a:p>
          <a:p>
            <a:r>
              <a:rPr lang="en-US" dirty="0"/>
              <a:t>Gender: female</a:t>
            </a:r>
          </a:p>
          <a:p>
            <a:r>
              <a:rPr lang="en-US" dirty="0"/>
              <a:t>Department: general surgical ward</a:t>
            </a:r>
          </a:p>
          <a:p>
            <a:r>
              <a:rPr lang="en-US" dirty="0"/>
              <a:t>IP NO: 260634523</a:t>
            </a:r>
          </a:p>
          <a:p>
            <a:r>
              <a:rPr lang="en-US" dirty="0"/>
              <a:t>Date of admission: 24/6/26</a:t>
            </a:r>
          </a:p>
          <a:p>
            <a:r>
              <a:rPr lang="en-US" dirty="0"/>
              <a:t>Date of discharge: 1/7/26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ASSESSMENT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785926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CHIEF COMPLAINTS</a:t>
            </a:r>
            <a:r>
              <a:rPr lang="en-US" dirty="0"/>
              <a:t>: </a:t>
            </a:r>
          </a:p>
          <a:p>
            <a:r>
              <a:rPr lang="en-US" dirty="0"/>
              <a:t>Complaint of pain in abdomen since 2 months no significant associated bleeding, nausea/ vomiting or bowel or bladder complaints </a:t>
            </a:r>
          </a:p>
          <a:p>
            <a:r>
              <a:rPr lang="en-US" b="1" dirty="0"/>
              <a:t>HISTORY OF PRESENT ILLNESS: </a:t>
            </a:r>
          </a:p>
          <a:p>
            <a:r>
              <a:rPr lang="en-US" dirty="0"/>
              <a:t>Patient was apparently alright 2 months back then to start with she developed pain in abdomen which was insidious in onset, gradually progressive to present condition, no </a:t>
            </a:r>
            <a:r>
              <a:rPr lang="en-US" dirty="0" err="1"/>
              <a:t>aggreveating</a:t>
            </a:r>
            <a:r>
              <a:rPr lang="en-US" dirty="0"/>
              <a:t> or relieving factors observed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39108"/>
            <a:ext cx="8229600" cy="5084948"/>
          </a:xfrm>
        </p:spPr>
        <p:txBody>
          <a:bodyPr>
            <a:normAutofit/>
          </a:bodyPr>
          <a:lstStyle/>
          <a:p>
            <a:r>
              <a:rPr lang="en-US" b="1" dirty="0"/>
              <a:t>HISTORY OF PAST ILLNESS</a:t>
            </a:r>
            <a:r>
              <a:rPr lang="en-US" dirty="0"/>
              <a:t>: </a:t>
            </a:r>
          </a:p>
          <a:p>
            <a:r>
              <a:rPr lang="en-US" dirty="0"/>
              <a:t>K/C/O  Hypertension since 6 years on regular medication Tab. </a:t>
            </a:r>
            <a:r>
              <a:rPr lang="en-US" dirty="0" err="1"/>
              <a:t>Telmisatran</a:t>
            </a:r>
            <a:r>
              <a:rPr lang="en-US" dirty="0"/>
              <a:t>[ 20mg/PO/ OD]</a:t>
            </a:r>
          </a:p>
          <a:p>
            <a:r>
              <a:rPr lang="en-US" b="1" dirty="0"/>
              <a:t>PAST MEDICAL/ SURGICAL HISTORY : </a:t>
            </a:r>
          </a:p>
          <a:p>
            <a:r>
              <a:rPr lang="en-US" dirty="0"/>
              <a:t>H/O </a:t>
            </a:r>
            <a:r>
              <a:rPr lang="en-US" dirty="0" err="1"/>
              <a:t>tubectomy</a:t>
            </a:r>
            <a:r>
              <a:rPr lang="en-US" dirty="0"/>
              <a:t> 40years back</a:t>
            </a:r>
          </a:p>
          <a:p>
            <a:r>
              <a:rPr lang="en-US" b="1" dirty="0"/>
              <a:t>FAMILY HISTORY: </a:t>
            </a:r>
            <a:r>
              <a:rPr lang="en-US" dirty="0"/>
              <a:t>NAD</a:t>
            </a:r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4610"/>
            <a:ext cx="8229600" cy="503155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PERSONAL HISTORY: </a:t>
            </a:r>
            <a:endParaRPr lang="en-US" dirty="0"/>
          </a:p>
          <a:p>
            <a:r>
              <a:rPr lang="en-US" dirty="0"/>
              <a:t>Height: 165cms</a:t>
            </a:r>
          </a:p>
          <a:p>
            <a:r>
              <a:rPr lang="en-US" dirty="0"/>
              <a:t>Weight : 90kgs</a:t>
            </a:r>
          </a:p>
          <a:p>
            <a:r>
              <a:rPr lang="en-US" dirty="0"/>
              <a:t>Alcohol: 3 times per week 90ml [ last intake- 2 days back]</a:t>
            </a:r>
          </a:p>
          <a:p>
            <a:r>
              <a:rPr lang="en-US" dirty="0"/>
              <a:t>No habit of smoking</a:t>
            </a:r>
          </a:p>
          <a:p>
            <a:r>
              <a:rPr lang="en-US" dirty="0"/>
              <a:t>Mixed diet</a:t>
            </a:r>
          </a:p>
          <a:p>
            <a:r>
              <a:rPr lang="en-US" dirty="0"/>
              <a:t>Bowel and bladder: regular</a:t>
            </a:r>
          </a:p>
          <a:p>
            <a:r>
              <a:rPr lang="en-US" dirty="0"/>
              <a:t>Appetite: normal </a:t>
            </a:r>
          </a:p>
          <a:p>
            <a:r>
              <a:rPr lang="en-US" dirty="0"/>
              <a:t>Sleep : adequate</a:t>
            </a:r>
          </a:p>
          <a:p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EXAMINATION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GCS: fair</a:t>
            </a:r>
          </a:p>
          <a:p>
            <a:r>
              <a:rPr lang="en-US" dirty="0"/>
              <a:t>BP: 130/80mmHg</a:t>
            </a:r>
          </a:p>
          <a:p>
            <a:r>
              <a:rPr lang="en-US" dirty="0"/>
              <a:t>Temperature: 98.5 F </a:t>
            </a:r>
          </a:p>
          <a:p>
            <a:r>
              <a:rPr lang="en-US" dirty="0"/>
              <a:t>Lungs: BAE+</a:t>
            </a:r>
          </a:p>
          <a:p>
            <a:r>
              <a:rPr lang="en-US" dirty="0"/>
              <a:t>CVS: S1S2+ </a:t>
            </a:r>
          </a:p>
          <a:p>
            <a:r>
              <a:rPr lang="en-US" dirty="0"/>
              <a:t>PR: 88Bpm</a:t>
            </a:r>
          </a:p>
          <a:p>
            <a:r>
              <a:rPr lang="en-US" dirty="0"/>
              <a:t>RR: 16cpm</a:t>
            </a:r>
          </a:p>
          <a:p>
            <a:r>
              <a:rPr lang="en-US" dirty="0"/>
              <a:t>Spo2: 99%@RA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EXAMINATION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Inspection-</a:t>
            </a:r>
            <a:r>
              <a:rPr lang="en-US" dirty="0"/>
              <a:t> abdomen appears slightly distended, E/O a visible mid line vertical scar of 6*1cm noted extending from 3cm below umbilicus and above pubic </a:t>
            </a:r>
            <a:r>
              <a:rPr lang="en-US" dirty="0" err="1"/>
              <a:t>symphysis</a:t>
            </a:r>
            <a:endParaRPr lang="en-US" dirty="0"/>
          </a:p>
          <a:p>
            <a:r>
              <a:rPr lang="en-US" dirty="0"/>
              <a:t>E/O 3*2 cm scar noted 2cm above umbilicus</a:t>
            </a:r>
          </a:p>
          <a:p>
            <a:r>
              <a:rPr lang="en-US" b="1" dirty="0"/>
              <a:t>Percussion- </a:t>
            </a:r>
            <a:r>
              <a:rPr lang="en-US" dirty="0"/>
              <a:t>liver dullness noted</a:t>
            </a:r>
            <a:endParaRPr lang="en-US" b="1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321468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PAIN IN ABDOMEN ⬇️ EVALUATION </a:t>
            </a:r>
            <a:br>
              <a:rPr lang="en-US" b="1" dirty="0"/>
            </a:br>
            <a:r>
              <a:rPr lang="en-US" b="1" dirty="0"/>
              <a:t>CHOLECYSTITIS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          PROVISIONAL DIAGNOSIS</a:t>
            </a:r>
          </a:p>
          <a:p>
            <a:pPr marL="0" indent="0">
              <a:buNone/>
            </a:pPr>
            <a:r>
              <a:rPr lang="en-US" dirty="0"/>
              <a:t>                                  ⬇️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 DATA</a:t>
            </a:r>
            <a:br>
              <a:rPr lang="en-US" dirty="0"/>
            </a:br>
            <a:r>
              <a:rPr lang="en-US" dirty="0"/>
              <a:t>COMPLETE BLOOD COUNT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770595"/>
              </p:ext>
            </p:extLst>
          </p:nvPr>
        </p:nvGraphicFramePr>
        <p:xfrm>
          <a:off x="457200" y="1600200"/>
          <a:ext cx="82296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34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DAY 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RANGE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850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WBC</a:t>
                      </a:r>
                      <a:r>
                        <a:rPr lang="en-US" baseline="0" dirty="0"/>
                        <a:t> COUNT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10500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4000-10000 cells/cu.mm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343">
                <a:tc>
                  <a:txBody>
                    <a:bodyPr/>
                    <a:lstStyle/>
                    <a:p>
                      <a:r>
                        <a:rPr lang="en-US" dirty="0"/>
                        <a:t>NEUTROPHILS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63%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40-80%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343">
                <a:tc>
                  <a:txBody>
                    <a:bodyPr/>
                    <a:lstStyle/>
                    <a:p>
                      <a:r>
                        <a:rPr lang="en-US" dirty="0"/>
                        <a:t>HAEMOGLOBIN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11.6g/</a:t>
                      </a:r>
                      <a:r>
                        <a:rPr lang="en-US" b="1" dirty="0" err="1"/>
                        <a:t>dL</a:t>
                      </a:r>
                      <a:r>
                        <a:rPr lang="en-US" b="1" baseline="0" dirty="0"/>
                        <a:t>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11.6g/</a:t>
                      </a:r>
                      <a:r>
                        <a:rPr lang="en-US" b="1" dirty="0" err="1"/>
                        <a:t>dL</a:t>
                      </a:r>
                      <a:r>
                        <a:rPr lang="en-US" b="1" baseline="0" dirty="0"/>
                        <a:t>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12-15g/ </a:t>
                      </a:r>
                      <a:r>
                        <a:rPr lang="en-US" dirty="0" err="1"/>
                        <a:t>dL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343">
                <a:tc>
                  <a:txBody>
                    <a:bodyPr/>
                    <a:lstStyle/>
                    <a:p>
                      <a:r>
                        <a:rPr lang="en-US" dirty="0"/>
                        <a:t>HEMATOCRIT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37.7%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36.9%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38-51% </a:t>
                      </a:r>
                      <a:r>
                        <a:rPr lang="en-US" dirty="0" err="1"/>
                        <a:t>pcv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343">
                <a:tc>
                  <a:txBody>
                    <a:bodyPr/>
                    <a:lstStyle/>
                    <a:p>
                      <a:r>
                        <a:rPr lang="en-US" dirty="0"/>
                        <a:t>MCV/MCH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91.1fL /28.8pg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90.9fL / 28.5pg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83-101fL/</a:t>
                      </a:r>
                      <a:r>
                        <a:rPr lang="en-US" baseline="0" dirty="0"/>
                        <a:t> 27-32pg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343">
                <a:tc>
                  <a:txBody>
                    <a:bodyPr/>
                    <a:lstStyle/>
                    <a:p>
                      <a:r>
                        <a:rPr lang="en-US" dirty="0"/>
                        <a:t>MCHC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31.6g/</a:t>
                      </a:r>
                      <a:r>
                        <a:rPr lang="en-US" dirty="0" err="1"/>
                        <a:t>dL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31.4g/ </a:t>
                      </a:r>
                      <a:r>
                        <a:rPr lang="en-US" dirty="0" err="1"/>
                        <a:t>dL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31.5- 34.5g/ </a:t>
                      </a:r>
                      <a:r>
                        <a:rPr lang="en-US" dirty="0" err="1"/>
                        <a:t>dL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500042"/>
            <a:ext cx="8229600" cy="1143000"/>
          </a:xfrm>
        </p:spPr>
        <p:txBody>
          <a:bodyPr/>
          <a:lstStyle/>
          <a:p>
            <a:r>
              <a:rPr lang="en-US" dirty="0"/>
              <a:t>RENAL FUNCTION TEST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71472" y="2214554"/>
          <a:ext cx="8229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EXAMINED VALUE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RANGE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SERUM CREATININE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0.8mg/</a:t>
                      </a:r>
                      <a:r>
                        <a:rPr lang="en-US" dirty="0" err="1"/>
                        <a:t>dL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0.6-1.1mg/</a:t>
                      </a:r>
                      <a:r>
                        <a:rPr lang="en-US" dirty="0" err="1"/>
                        <a:t>dL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SODIUM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138mmol/L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135-155mmol/L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POTASSIUM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4.4mmol/L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3.5-5.5mmol/L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LIVER FUNCTION TEST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EXAMINED VALUE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NORMAL RANGE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BILIRUBIN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0.60mg/</a:t>
                      </a:r>
                      <a:r>
                        <a:rPr lang="en-US" dirty="0" err="1"/>
                        <a:t>dL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0.3-1.2 mg/</a:t>
                      </a:r>
                      <a:r>
                        <a:rPr lang="en-US" dirty="0" err="1"/>
                        <a:t>dL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DIRECT</a:t>
                      </a:r>
                      <a:r>
                        <a:rPr lang="en-US" baseline="0" dirty="0"/>
                        <a:t> BILIRUBIN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0.20mg/</a:t>
                      </a:r>
                      <a:r>
                        <a:rPr lang="en-US" dirty="0" err="1"/>
                        <a:t>dL</a:t>
                      </a:r>
                      <a:r>
                        <a:rPr lang="en-US" baseline="0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0.1-0.4 mg/</a:t>
                      </a:r>
                      <a:r>
                        <a:rPr lang="en-US" dirty="0" err="1"/>
                        <a:t>dL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SERUM TOTAL PROTEIN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6.2g/</a:t>
                      </a:r>
                      <a:r>
                        <a:rPr lang="en-US" dirty="0" err="1"/>
                        <a:t>dL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6-8g/</a:t>
                      </a:r>
                      <a:r>
                        <a:rPr lang="en-US" dirty="0" err="1"/>
                        <a:t>dL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ALBUMIN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4.2g/</a:t>
                      </a:r>
                      <a:r>
                        <a:rPr lang="en-US" dirty="0" err="1"/>
                        <a:t>dL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3.5-5.2g/</a:t>
                      </a:r>
                      <a:r>
                        <a:rPr lang="en-US" dirty="0" err="1"/>
                        <a:t>dL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GLOBULIN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2.0g/</a:t>
                      </a:r>
                      <a:r>
                        <a:rPr lang="en-US" b="1" dirty="0" err="1"/>
                        <a:t>dL</a:t>
                      </a:r>
                      <a:r>
                        <a:rPr lang="en-US" b="1" baseline="0" dirty="0"/>
                        <a:t>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2.6-4.6g/</a:t>
                      </a:r>
                      <a:r>
                        <a:rPr lang="en-US" dirty="0" err="1"/>
                        <a:t>dL</a:t>
                      </a:r>
                      <a:r>
                        <a:rPr lang="en-US" dirty="0"/>
                        <a:t>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A/G RATIO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2.1</a:t>
                      </a:r>
                      <a:r>
                        <a:rPr lang="en-US" b="1" baseline="0" dirty="0"/>
                        <a:t>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1.2-1.5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83U/L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53-128U/L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FINDINGS 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ULTRASONOGRAPHY OF ABDOMEN AND PELVIS</a:t>
            </a:r>
          </a:p>
          <a:p>
            <a:r>
              <a:rPr lang="en-US" dirty="0"/>
              <a:t>Gall bladder: contracted </a:t>
            </a:r>
          </a:p>
          <a:p>
            <a:r>
              <a:rPr lang="en-US" dirty="0"/>
              <a:t>Impression: grade 1 fatty liver</a:t>
            </a:r>
          </a:p>
          <a:p>
            <a:r>
              <a:rPr lang="en-US" dirty="0"/>
              <a:t>                      Renal parenchymal changes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572</Words>
  <Application>Microsoft Office PowerPoint</Application>
  <PresentationFormat>On-screen Show (4:3)</PresentationFormat>
  <Paragraphs>176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CASE PRESENTATION ON CHRONIC CALCULUS  CHOLECYSTITIS</vt:lpstr>
      <vt:lpstr>DEFINITION </vt:lpstr>
      <vt:lpstr>ETIOLOGY</vt:lpstr>
      <vt:lpstr>RISK FACTORS </vt:lpstr>
      <vt:lpstr>SIGNS AND SYMPTOMS</vt:lpstr>
      <vt:lpstr>DIAGNOSIS</vt:lpstr>
      <vt:lpstr>SUBJECTIVE DATA</vt:lpstr>
      <vt:lpstr>INITIAL ASSESSMENT</vt:lpstr>
      <vt:lpstr>PowerPoint Presentation</vt:lpstr>
      <vt:lpstr>PowerPoint Presentation</vt:lpstr>
      <vt:lpstr>PHYSICAL EXAMINATION</vt:lpstr>
      <vt:lpstr>LOCAL EXAMINATION</vt:lpstr>
      <vt:lpstr>PAIN IN ABDOMEN ⬇️ EVALUATION  CHOLECYSTITIS</vt:lpstr>
      <vt:lpstr>OBJECTIVE DATA COMPLETE BLOOD COUNT</vt:lpstr>
      <vt:lpstr>RENAL FUNCTION TEST</vt:lpstr>
      <vt:lpstr>LIVER FUNCTION TEST</vt:lpstr>
      <vt:lpstr>OTHER FINDINGS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PRESENTATION ON LEFT OVARIAN CHOCOLATE CYST</dc:title>
  <dc:creator>VARUN</dc:creator>
  <cp:lastModifiedBy>aashritha.sanne@gmail.com</cp:lastModifiedBy>
  <cp:revision>55</cp:revision>
  <dcterms:created xsi:type="dcterms:W3CDTF">2026-04-15T14:50:16Z</dcterms:created>
  <dcterms:modified xsi:type="dcterms:W3CDTF">2026-09-06T12:52:50Z</dcterms:modified>
</cp:coreProperties>
</file>